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1"/>
          <p:cNvSpPr txBox="1"/>
          <p:nvPr/>
        </p:nvSpPr>
        <p:spPr>
          <a:xfrm>
            <a:off x="731520" y="1160780"/>
            <a:ext cx="7680960" cy="787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44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LLM 해석가능성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731520" y="2132917"/>
            <a:ext cx="7680960" cy="306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Transformer 회로 분석부터 사실 편집까지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731520" y="2759710"/>
            <a:ext cx="768096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1 &amp; 2 발표 자료</a:t>
            </a:r>
          </a:p>
        </p:txBody>
      </p:sp>
      <p:sp>
        <p:nvSpPr>
          <p:cNvPr id="24" name="Shape 4"/>
          <p:cNvSpPr/>
          <p:nvPr/>
        </p:nvSpPr>
        <p:spPr>
          <a:xfrm>
            <a:off x="731519" y="3383279"/>
            <a:ext cx="2743202" cy="1"/>
          </a:xfrm>
          <a:prstGeom prst="line">
            <a:avLst/>
          </a:prstGeom>
          <a:ln w="25400">
            <a:solidFill>
              <a:srgbClr val="0891B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Text 5"/>
          <p:cNvSpPr txBox="1"/>
          <p:nvPr/>
        </p:nvSpPr>
        <p:spPr>
          <a:xfrm>
            <a:off x="731519" y="3696068"/>
            <a:ext cx="36576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731519" y="4028392"/>
            <a:ext cx="36576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2026.04</a:t>
            </a:r>
          </a:p>
        </p:txBody>
      </p:sp>
      <p:sp>
        <p:nvSpPr>
          <p:cNvPr id="27" name="Text 7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"/>
          <p:cNvSpPr txBox="1"/>
          <p:nvPr/>
        </p:nvSpPr>
        <p:spPr>
          <a:xfrm>
            <a:off x="731519" y="308609"/>
            <a:ext cx="73152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2" name="Shape 2"/>
          <p:cNvSpPr/>
          <p:nvPr/>
        </p:nvSpPr>
        <p:spPr>
          <a:xfrm>
            <a:off x="731519" y="1234439"/>
            <a:ext cx="457201" cy="457201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" name="Text 3"/>
          <p:cNvSpPr txBox="1"/>
          <p:nvPr/>
        </p:nvSpPr>
        <p:spPr>
          <a:xfrm>
            <a:off x="731519" y="135206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" name="Text 4"/>
          <p:cNvSpPr txBox="1"/>
          <p:nvPr/>
        </p:nvSpPr>
        <p:spPr>
          <a:xfrm>
            <a:off x="1371599" y="1258107"/>
            <a:ext cx="10972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1</a:t>
            </a:r>
          </a:p>
        </p:txBody>
      </p:sp>
      <p:sp>
        <p:nvSpPr>
          <p:cNvPr id="35" name="Text 5"/>
          <p:cNvSpPr txBox="1"/>
          <p:nvPr/>
        </p:nvSpPr>
        <p:spPr>
          <a:xfrm>
            <a:off x="1371600" y="1456689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Transformer 아키텍처 기초</a:t>
            </a:r>
          </a:p>
        </p:txBody>
      </p:sp>
      <p:sp>
        <p:nvSpPr>
          <p:cNvPr id="36" name="Text 6"/>
          <p:cNvSpPr txBox="1"/>
          <p:nvPr/>
        </p:nvSpPr>
        <p:spPr>
          <a:xfrm>
            <a:off x="1371600" y="1733549"/>
            <a:ext cx="64008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토큰, Attention, Residual Stream</a:t>
            </a:r>
          </a:p>
        </p:txBody>
      </p:sp>
      <p:sp>
        <p:nvSpPr>
          <p:cNvPr id="37" name="Shape 7"/>
          <p:cNvSpPr/>
          <p:nvPr/>
        </p:nvSpPr>
        <p:spPr>
          <a:xfrm>
            <a:off x="731519" y="2148839"/>
            <a:ext cx="457201" cy="457201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8"/>
          <p:cNvSpPr txBox="1"/>
          <p:nvPr/>
        </p:nvSpPr>
        <p:spPr>
          <a:xfrm>
            <a:off x="731519" y="226646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9" name="Text 9"/>
          <p:cNvSpPr txBox="1"/>
          <p:nvPr/>
        </p:nvSpPr>
        <p:spPr>
          <a:xfrm>
            <a:off x="1371599" y="2172507"/>
            <a:ext cx="10972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1</a:t>
            </a:r>
          </a:p>
        </p:txBody>
      </p:sp>
      <p:sp>
        <p:nvSpPr>
          <p:cNvPr id="40" name="Text 10"/>
          <p:cNvSpPr txBox="1"/>
          <p:nvPr/>
        </p:nvSpPr>
        <p:spPr>
          <a:xfrm>
            <a:off x="1371600" y="2371090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Transformer 회로 분석</a:t>
            </a:r>
          </a:p>
        </p:txBody>
      </p:sp>
      <p:sp>
        <p:nvSpPr>
          <p:cNvPr id="41" name="Text 11"/>
          <p:cNvSpPr txBox="1"/>
          <p:nvPr/>
        </p:nvSpPr>
        <p:spPr>
          <a:xfrm>
            <a:off x="1371600" y="2656792"/>
            <a:ext cx="6400800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Q-K/O-V, Bigram → Induction Head</a:t>
            </a:r>
          </a:p>
        </p:txBody>
      </p:sp>
      <p:sp>
        <p:nvSpPr>
          <p:cNvPr id="42" name="Shape 12"/>
          <p:cNvSpPr/>
          <p:nvPr/>
        </p:nvSpPr>
        <p:spPr>
          <a:xfrm>
            <a:off x="731519" y="3063239"/>
            <a:ext cx="457201" cy="457201"/>
          </a:xfrm>
          <a:prstGeom prst="ellipse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" name="Text 13"/>
          <p:cNvSpPr txBox="1"/>
          <p:nvPr/>
        </p:nvSpPr>
        <p:spPr>
          <a:xfrm>
            <a:off x="731519" y="318086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44" name="Text 14"/>
          <p:cNvSpPr txBox="1"/>
          <p:nvPr/>
        </p:nvSpPr>
        <p:spPr>
          <a:xfrm>
            <a:off x="1371599" y="3086907"/>
            <a:ext cx="10972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2</a:t>
            </a:r>
          </a:p>
        </p:txBody>
      </p:sp>
      <p:sp>
        <p:nvSpPr>
          <p:cNvPr id="45" name="Text 15"/>
          <p:cNvSpPr txBox="1"/>
          <p:nvPr/>
        </p:nvSpPr>
        <p:spPr>
          <a:xfrm>
            <a:off x="1371600" y="3295163"/>
            <a:ext cx="457200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FFN = Key-Value Memory</a:t>
            </a:r>
          </a:p>
        </p:txBody>
      </p:sp>
      <p:sp>
        <p:nvSpPr>
          <p:cNvPr id="46" name="Text 16"/>
          <p:cNvSpPr txBox="1"/>
          <p:nvPr/>
        </p:nvSpPr>
        <p:spPr>
          <a:xfrm>
            <a:off x="1371600" y="3571193"/>
            <a:ext cx="64008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Geva et al. (EMNLP 2021)</a:t>
            </a:r>
          </a:p>
        </p:txBody>
      </p:sp>
      <p:sp>
        <p:nvSpPr>
          <p:cNvPr id="47" name="Shape 17"/>
          <p:cNvSpPr/>
          <p:nvPr/>
        </p:nvSpPr>
        <p:spPr>
          <a:xfrm>
            <a:off x="731519" y="3977640"/>
            <a:ext cx="457201" cy="457201"/>
          </a:xfrm>
          <a:prstGeom prst="ellipse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Text 18"/>
          <p:cNvSpPr txBox="1"/>
          <p:nvPr/>
        </p:nvSpPr>
        <p:spPr>
          <a:xfrm>
            <a:off x="731519" y="4095263"/>
            <a:ext cx="4572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49" name="Text 19"/>
          <p:cNvSpPr txBox="1"/>
          <p:nvPr/>
        </p:nvSpPr>
        <p:spPr>
          <a:xfrm>
            <a:off x="1371599" y="4001307"/>
            <a:ext cx="1097282" cy="135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2</a:t>
            </a:r>
          </a:p>
        </p:txBody>
      </p:sp>
      <p:sp>
        <p:nvSpPr>
          <p:cNvPr id="50" name="Text 20"/>
          <p:cNvSpPr txBox="1"/>
          <p:nvPr/>
        </p:nvSpPr>
        <p:spPr>
          <a:xfrm>
            <a:off x="1371600" y="4199890"/>
            <a:ext cx="45720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ROME: 사실 편집</a:t>
            </a:r>
          </a:p>
        </p:txBody>
      </p:sp>
      <p:sp>
        <p:nvSpPr>
          <p:cNvPr id="51" name="Text 21"/>
          <p:cNvSpPr txBox="1"/>
          <p:nvPr/>
        </p:nvSpPr>
        <p:spPr>
          <a:xfrm>
            <a:off x="1371600" y="4485593"/>
            <a:ext cx="6400800" cy="1728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Meng et al. (NeurIPS 2022)</a:t>
            </a:r>
          </a:p>
        </p:txBody>
      </p:sp>
      <p:sp>
        <p:nvSpPr>
          <p:cNvPr id="52" name="Text 22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53" name="Text 23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"/>
          <p:cNvSpPr txBox="1"/>
          <p:nvPr/>
        </p:nvSpPr>
        <p:spPr>
          <a:xfrm>
            <a:off x="731519" y="1547228"/>
            <a:ext cx="73152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600" sz="1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1</a:t>
            </a:r>
          </a:p>
        </p:txBody>
      </p:sp>
      <p:sp>
        <p:nvSpPr>
          <p:cNvPr id="57" name="Text 2"/>
          <p:cNvSpPr txBox="1"/>
          <p:nvPr/>
        </p:nvSpPr>
        <p:spPr>
          <a:xfrm>
            <a:off x="731519" y="1912619"/>
            <a:ext cx="7315201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Transformer 아키텍처와</a:t>
            </a:r>
          </a:p>
          <a:p>
            <a:pPr>
              <a:defRPr sz="36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회로 분석 프레임워크</a:t>
            </a:r>
          </a:p>
        </p:txBody>
      </p:sp>
      <p:sp>
        <p:nvSpPr>
          <p:cNvPr id="58" name="Shape 3"/>
          <p:cNvSpPr/>
          <p:nvPr/>
        </p:nvSpPr>
        <p:spPr>
          <a:xfrm>
            <a:off x="731519" y="3474720"/>
            <a:ext cx="1828802" cy="1"/>
          </a:xfrm>
          <a:prstGeom prst="line">
            <a:avLst/>
          </a:prstGeom>
          <a:ln w="25400">
            <a:solidFill>
              <a:srgbClr val="0891B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4"/>
          <p:cNvSpPr txBox="1"/>
          <p:nvPr/>
        </p:nvSpPr>
        <p:spPr>
          <a:xfrm>
            <a:off x="731519" y="3802332"/>
            <a:ext cx="731520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 Mathematical Framework for Transformer Circuits</a:t>
            </a:r>
          </a:p>
          <a:p>
            <a: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Elhage et al., Anthropic (2021)</a:t>
            </a:r>
          </a:p>
        </p:txBody>
      </p:sp>
      <p:sp>
        <p:nvSpPr>
          <p:cNvPr id="60" name="Text 5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61" name="Text 6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4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Transformer: 입력에서 출력까지</a:t>
            </a:r>
          </a:p>
        </p:txBody>
      </p:sp>
      <p:sp>
        <p:nvSpPr>
          <p:cNvPr id="65" name="Shape 2"/>
          <p:cNvSpPr/>
          <p:nvPr/>
        </p:nvSpPr>
        <p:spPr>
          <a:xfrm>
            <a:off x="274319" y="1280160"/>
            <a:ext cx="1234442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64748B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Text 3"/>
          <p:cNvSpPr txBox="1"/>
          <p:nvPr/>
        </p:nvSpPr>
        <p:spPr>
          <a:xfrm>
            <a:off x="274319" y="1619249"/>
            <a:ext cx="12344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텍스트</a:t>
            </a:r>
          </a:p>
        </p:txBody>
      </p:sp>
      <p:sp>
        <p:nvSpPr>
          <p:cNvPr id="67" name="Text 4"/>
          <p:cNvSpPr txBox="1"/>
          <p:nvPr/>
        </p:nvSpPr>
        <p:spPr>
          <a:xfrm>
            <a:off x="274319" y="2011679"/>
            <a:ext cx="12344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"안녕하세요"</a:t>
            </a:r>
          </a:p>
        </p:txBody>
      </p:sp>
      <p:sp>
        <p:nvSpPr>
          <p:cNvPr id="68" name="Text 5"/>
          <p:cNvSpPr txBox="1"/>
          <p:nvPr/>
        </p:nvSpPr>
        <p:spPr>
          <a:xfrm>
            <a:off x="1508760" y="1672103"/>
            <a:ext cx="2286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69" name="Shape 6"/>
          <p:cNvSpPr/>
          <p:nvPr/>
        </p:nvSpPr>
        <p:spPr>
          <a:xfrm>
            <a:off x="1737360" y="1280160"/>
            <a:ext cx="1234441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Text 7"/>
          <p:cNvSpPr txBox="1"/>
          <p:nvPr/>
        </p:nvSpPr>
        <p:spPr>
          <a:xfrm>
            <a:off x="1737360" y="1619249"/>
            <a:ext cx="12344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토큰화</a:t>
            </a:r>
          </a:p>
        </p:txBody>
      </p:sp>
      <p:sp>
        <p:nvSpPr>
          <p:cNvPr id="71" name="Text 8"/>
          <p:cNvSpPr txBox="1"/>
          <p:nvPr/>
        </p:nvSpPr>
        <p:spPr>
          <a:xfrm>
            <a:off x="1737360" y="2011679"/>
            <a:ext cx="12344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ID 시퀀스</a:t>
            </a:r>
          </a:p>
        </p:txBody>
      </p:sp>
      <p:sp>
        <p:nvSpPr>
          <p:cNvPr id="72" name="Text 9"/>
          <p:cNvSpPr txBox="1"/>
          <p:nvPr/>
        </p:nvSpPr>
        <p:spPr>
          <a:xfrm>
            <a:off x="2971800" y="1672103"/>
            <a:ext cx="228600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3" name="Shape 10"/>
          <p:cNvSpPr/>
          <p:nvPr/>
        </p:nvSpPr>
        <p:spPr>
          <a:xfrm>
            <a:off x="3200399" y="1280160"/>
            <a:ext cx="1234442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" name="Text 11"/>
          <p:cNvSpPr txBox="1"/>
          <p:nvPr/>
        </p:nvSpPr>
        <p:spPr>
          <a:xfrm>
            <a:off x="3200399" y="1619249"/>
            <a:ext cx="12344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임베딩</a:t>
            </a:r>
          </a:p>
        </p:txBody>
      </p:sp>
      <p:sp>
        <p:nvSpPr>
          <p:cNvPr id="75" name="Text 12"/>
          <p:cNvSpPr txBox="1"/>
          <p:nvPr/>
        </p:nvSpPr>
        <p:spPr>
          <a:xfrm>
            <a:off x="3200399" y="2011679"/>
            <a:ext cx="123444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고차원 벡터</a:t>
            </a:r>
          </a:p>
        </p:txBody>
      </p:sp>
      <p:sp>
        <p:nvSpPr>
          <p:cNvPr id="76" name="Text 13"/>
          <p:cNvSpPr txBox="1"/>
          <p:nvPr/>
        </p:nvSpPr>
        <p:spPr>
          <a:xfrm>
            <a:off x="4434840" y="1672103"/>
            <a:ext cx="2286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77" name="Shape 14"/>
          <p:cNvSpPr/>
          <p:nvPr/>
        </p:nvSpPr>
        <p:spPr>
          <a:xfrm>
            <a:off x="4663440" y="1280160"/>
            <a:ext cx="1234441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Text 15"/>
          <p:cNvSpPr txBox="1"/>
          <p:nvPr/>
        </p:nvSpPr>
        <p:spPr>
          <a:xfrm>
            <a:off x="4663440" y="1539192"/>
            <a:ext cx="1234441" cy="3506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Transformer</a:t>
            </a:r>
          </a:p>
          <a:p>
            <a: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Blocks</a:t>
            </a:r>
          </a:p>
        </p:txBody>
      </p:sp>
      <p:sp>
        <p:nvSpPr>
          <p:cNvPr id="79" name="Text 16"/>
          <p:cNvSpPr txBox="1"/>
          <p:nvPr/>
        </p:nvSpPr>
        <p:spPr>
          <a:xfrm>
            <a:off x="4663440" y="2011679"/>
            <a:ext cx="1234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Attn + FFN ×N</a:t>
            </a:r>
          </a:p>
        </p:txBody>
      </p:sp>
      <p:sp>
        <p:nvSpPr>
          <p:cNvPr id="80" name="Text 17"/>
          <p:cNvSpPr txBox="1"/>
          <p:nvPr/>
        </p:nvSpPr>
        <p:spPr>
          <a:xfrm>
            <a:off x="5897879" y="1672103"/>
            <a:ext cx="2286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1" name="Shape 18"/>
          <p:cNvSpPr/>
          <p:nvPr/>
        </p:nvSpPr>
        <p:spPr>
          <a:xfrm>
            <a:off x="6126479" y="1280160"/>
            <a:ext cx="1234441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2" name="Text 19"/>
          <p:cNvSpPr txBox="1"/>
          <p:nvPr/>
        </p:nvSpPr>
        <p:spPr>
          <a:xfrm>
            <a:off x="6126479" y="1628092"/>
            <a:ext cx="123444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Unembed</a:t>
            </a:r>
          </a:p>
        </p:txBody>
      </p:sp>
      <p:sp>
        <p:nvSpPr>
          <p:cNvPr id="83" name="Text 20"/>
          <p:cNvSpPr txBox="1"/>
          <p:nvPr/>
        </p:nvSpPr>
        <p:spPr>
          <a:xfrm>
            <a:off x="6126479" y="2011679"/>
            <a:ext cx="1234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logits→softmax</a:t>
            </a:r>
          </a:p>
        </p:txBody>
      </p:sp>
      <p:sp>
        <p:nvSpPr>
          <p:cNvPr id="84" name="Text 21"/>
          <p:cNvSpPr txBox="1"/>
          <p:nvPr/>
        </p:nvSpPr>
        <p:spPr>
          <a:xfrm>
            <a:off x="7360919" y="1672103"/>
            <a:ext cx="22860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85" name="Shape 22"/>
          <p:cNvSpPr/>
          <p:nvPr/>
        </p:nvSpPr>
        <p:spPr>
          <a:xfrm>
            <a:off x="7589519" y="1280160"/>
            <a:ext cx="1234441" cy="1188721"/>
          </a:xfrm>
          <a:prstGeom prst="rect">
            <a:avLst/>
          </a:prstGeom>
          <a:solidFill>
            <a:srgbClr val="1E293B"/>
          </a:solidFill>
          <a:ln w="19050">
            <a:solidFill>
              <a:srgbClr val="64748B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6" name="Text 23"/>
          <p:cNvSpPr txBox="1"/>
          <p:nvPr/>
        </p:nvSpPr>
        <p:spPr>
          <a:xfrm>
            <a:off x="7589519" y="1619249"/>
            <a:ext cx="123444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다음 토큰</a:t>
            </a:r>
          </a:p>
        </p:txBody>
      </p:sp>
      <p:sp>
        <p:nvSpPr>
          <p:cNvPr id="87" name="Text 24"/>
          <p:cNvSpPr txBox="1"/>
          <p:nvPr/>
        </p:nvSpPr>
        <p:spPr>
          <a:xfrm>
            <a:off x="7589519" y="2011679"/>
            <a:ext cx="12344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확률분포</a:t>
            </a:r>
          </a:p>
        </p:txBody>
      </p:sp>
      <p:sp>
        <p:nvSpPr>
          <p:cNvPr id="88" name="Shape 25"/>
          <p:cNvSpPr/>
          <p:nvPr/>
        </p:nvSpPr>
        <p:spPr>
          <a:xfrm>
            <a:off x="731520" y="2926079"/>
            <a:ext cx="7680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Text 26"/>
          <p:cNvSpPr txBox="1"/>
          <p:nvPr/>
        </p:nvSpPr>
        <p:spPr>
          <a:xfrm>
            <a:off x="914400" y="3078848"/>
            <a:ext cx="365760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Positional Encoding</a:t>
            </a:r>
          </a:p>
        </p:txBody>
      </p:sp>
      <p:sp>
        <p:nvSpPr>
          <p:cNvPr id="90" name="Text 27"/>
          <p:cNvSpPr txBox="1"/>
          <p:nvPr/>
        </p:nvSpPr>
        <p:spPr>
          <a:xfrm>
            <a:off x="914400" y="3444494"/>
            <a:ext cx="7315200" cy="33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Attention은 순서를 모름 (내적은 교환법칙 성립). 위치 정보 벡터를 임베딩에 더하여 순서를 부여.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PE 없이 "A B C"와 "C B A"를 넣으면 → 동일한 attention score</a:t>
            </a:r>
          </a:p>
        </p:txBody>
      </p:sp>
      <p:sp>
        <p:nvSpPr>
          <p:cNvPr id="91" name="Text 28"/>
          <p:cNvSpPr txBox="1"/>
          <p:nvPr/>
        </p:nvSpPr>
        <p:spPr>
          <a:xfrm>
            <a:off x="731520" y="4186604"/>
            <a:ext cx="7680960" cy="2221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4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Attention(Q,K,V) = softmax(QKᵀ / √dₖ) V</a:t>
            </a:r>
          </a:p>
        </p:txBody>
      </p:sp>
      <p:sp>
        <p:nvSpPr>
          <p:cNvPr id="92" name="Text 29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93" name="Text 30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관점의 전환: Residual Stream</a:t>
            </a:r>
          </a:p>
        </p:txBody>
      </p:sp>
      <p:sp>
        <p:nvSpPr>
          <p:cNvPr id="97" name="Shape 2"/>
          <p:cNvSpPr/>
          <p:nvPr/>
        </p:nvSpPr>
        <p:spPr>
          <a:xfrm>
            <a:off x="457200" y="1188719"/>
            <a:ext cx="3840480" cy="1097281"/>
          </a:xfrm>
          <a:prstGeom prst="rect">
            <a:avLst/>
          </a:prstGeom>
          <a:solidFill>
            <a:srgbClr val="1E293B"/>
          </a:solidFill>
          <a:ln w="12700">
            <a:solidFill>
              <a:srgbClr val="64748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3"/>
          <p:cNvSpPr txBox="1"/>
          <p:nvPr/>
        </p:nvSpPr>
        <p:spPr>
          <a:xfrm>
            <a:off x="640079" y="1322070"/>
            <a:ext cx="34747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기존 관점: 순차 파이프라인</a:t>
            </a:r>
          </a:p>
        </p:txBody>
      </p:sp>
      <p:sp>
        <p:nvSpPr>
          <p:cNvPr id="99" name="Text 4"/>
          <p:cNvSpPr txBox="1"/>
          <p:nvPr/>
        </p:nvSpPr>
        <p:spPr>
          <a:xfrm>
            <a:off x="640079" y="1715769"/>
            <a:ext cx="3474722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Layer 1 → Layer 2 → ... → Layer N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각 layer가 입력을 "완전히 변환"</a:t>
            </a:r>
          </a:p>
        </p:txBody>
      </p:sp>
      <p:sp>
        <p:nvSpPr>
          <p:cNvPr id="100" name="Shape 5"/>
          <p:cNvSpPr/>
          <p:nvPr/>
        </p:nvSpPr>
        <p:spPr>
          <a:xfrm>
            <a:off x="4846320" y="1188719"/>
            <a:ext cx="3840481" cy="1097281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6"/>
          <p:cNvSpPr txBox="1"/>
          <p:nvPr/>
        </p:nvSpPr>
        <p:spPr>
          <a:xfrm>
            <a:off x="5029199" y="1322070"/>
            <a:ext cx="347472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새로운 관점: 공유 통신 버스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5029199" y="1707134"/>
            <a:ext cx="3474722" cy="33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Residual Stream이라는 공유 채널에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각 구성요소가 독립적으로 읽고/쓰기</a:t>
            </a:r>
          </a:p>
        </p:txBody>
      </p:sp>
      <p:sp>
        <p:nvSpPr>
          <p:cNvPr id="103" name="Text 8"/>
          <p:cNvSpPr txBox="1"/>
          <p:nvPr/>
        </p:nvSpPr>
        <p:spPr>
          <a:xfrm>
            <a:off x="4297679" y="1564545"/>
            <a:ext cx="548641" cy="345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04" name="Shape 9"/>
          <p:cNvSpPr/>
          <p:nvPr/>
        </p:nvSpPr>
        <p:spPr>
          <a:xfrm>
            <a:off x="731520" y="2606039"/>
            <a:ext cx="7680960" cy="640081"/>
          </a:xfrm>
          <a:prstGeom prst="rect">
            <a:avLst/>
          </a:prstGeom>
          <a:solidFill>
            <a:srgbClr val="141E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Text 10"/>
          <p:cNvSpPr txBox="1"/>
          <p:nvPr/>
        </p:nvSpPr>
        <p:spPr>
          <a:xfrm>
            <a:off x="731520" y="2804388"/>
            <a:ext cx="7680960" cy="243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h_l = x_embed + Σ attn_i + Σ ffn_i    (i = 1 to l)</a:t>
            </a:r>
          </a:p>
        </p:txBody>
      </p:sp>
      <p:sp>
        <p:nvSpPr>
          <p:cNvPr id="106" name="Shape 11"/>
          <p:cNvSpPr/>
          <p:nvPr/>
        </p:nvSpPr>
        <p:spPr>
          <a:xfrm>
            <a:off x="731520" y="3520440"/>
            <a:ext cx="7680960" cy="914401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2"/>
          <p:cNvSpPr txBox="1"/>
          <p:nvPr/>
        </p:nvSpPr>
        <p:spPr>
          <a:xfrm>
            <a:off x="914400" y="3647439"/>
            <a:ext cx="2743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왜 중요한가?</a:t>
            </a:r>
          </a:p>
        </p:txBody>
      </p:sp>
      <p:sp>
        <p:nvSpPr>
          <p:cNvPr id="108" name="Text 13"/>
          <p:cNvSpPr txBox="1"/>
          <p:nvPr/>
        </p:nvSpPr>
        <p:spPr>
          <a:xfrm>
            <a:off x="914400" y="3970274"/>
            <a:ext cx="7315200" cy="3347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이 관점이 모든 후속 분석의 기반: Q-K/O-V 회로 분해, Logit Lens, Causal Tracing 모두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"residual stream에서 읽고 쓰는 구성요소"라는 프레임 위에서 작동</a:t>
            </a:r>
          </a:p>
        </p:txBody>
      </p:sp>
      <p:sp>
        <p:nvSpPr>
          <p:cNvPr id="109" name="Text 14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110" name="Text 15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Attention Head의 두 회로</a:t>
            </a:r>
          </a:p>
        </p:txBody>
      </p:sp>
      <p:sp>
        <p:nvSpPr>
          <p:cNvPr id="114" name="Shape 2"/>
          <p:cNvSpPr/>
          <p:nvPr/>
        </p:nvSpPr>
        <p:spPr>
          <a:xfrm>
            <a:off x="457199" y="1097280"/>
            <a:ext cx="3931922" cy="2286001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5" name="Shape 3"/>
          <p:cNvSpPr/>
          <p:nvPr/>
        </p:nvSpPr>
        <p:spPr>
          <a:xfrm>
            <a:off x="457199" y="1097280"/>
            <a:ext cx="3931922" cy="45720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Text 4"/>
          <p:cNvSpPr txBox="1"/>
          <p:nvPr/>
        </p:nvSpPr>
        <p:spPr>
          <a:xfrm>
            <a:off x="457199" y="1217930"/>
            <a:ext cx="3931922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Q-K Circuit: "어디에 주목?"</a:t>
            </a:r>
          </a:p>
        </p:txBody>
      </p:sp>
      <p:sp>
        <p:nvSpPr>
          <p:cNvPr id="117" name="Text 5"/>
          <p:cNvSpPr txBox="1"/>
          <p:nvPr/>
        </p:nvSpPr>
        <p:spPr>
          <a:xfrm>
            <a:off x="640079" y="1772919"/>
            <a:ext cx="35661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W_QK = W_Q · W_Kᵀ</a:t>
            </a:r>
          </a:p>
        </p:txBody>
      </p:sp>
      <p:sp>
        <p:nvSpPr>
          <p:cNvPr id="118" name="Text 6"/>
          <p:cNvSpPr txBox="1"/>
          <p:nvPr/>
        </p:nvSpPr>
        <p:spPr>
          <a:xfrm>
            <a:off x="640079" y="2316989"/>
            <a:ext cx="3566161" cy="669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토큰 A가 토큰 B에 얼마나 주목할지 결정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Attention Pattern 생성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도서관 비유: "어떤 책을 꺼낼 것인가?"</a:t>
            </a:r>
          </a:p>
        </p:txBody>
      </p:sp>
      <p:sp>
        <p:nvSpPr>
          <p:cNvPr id="119" name="Shape 7"/>
          <p:cNvSpPr/>
          <p:nvPr/>
        </p:nvSpPr>
        <p:spPr>
          <a:xfrm>
            <a:off x="4754879" y="1097280"/>
            <a:ext cx="3931921" cy="2286001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0" name="Shape 8"/>
          <p:cNvSpPr/>
          <p:nvPr/>
        </p:nvSpPr>
        <p:spPr>
          <a:xfrm>
            <a:off x="4754879" y="1097280"/>
            <a:ext cx="3931921" cy="457201"/>
          </a:xfrm>
          <a:prstGeom prst="rect">
            <a:avLst/>
          </a:prstGeom>
          <a:solidFill>
            <a:srgbClr val="05966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1" name="Text 9"/>
          <p:cNvSpPr txBox="1"/>
          <p:nvPr/>
        </p:nvSpPr>
        <p:spPr>
          <a:xfrm>
            <a:off x="4754879" y="1217930"/>
            <a:ext cx="393192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O-V Circuit: "무슨 정보를 이동?"</a:t>
            </a:r>
          </a:p>
        </p:txBody>
      </p:sp>
      <p:sp>
        <p:nvSpPr>
          <p:cNvPr id="122" name="Text 10"/>
          <p:cNvSpPr txBox="1"/>
          <p:nvPr/>
        </p:nvSpPr>
        <p:spPr>
          <a:xfrm>
            <a:off x="4937759" y="1772919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W_OV = W_V · W_O</a:t>
            </a:r>
          </a:p>
        </p:txBody>
      </p:sp>
      <p:sp>
        <p:nvSpPr>
          <p:cNvPr id="123" name="Text 11"/>
          <p:cNvSpPr txBox="1"/>
          <p:nvPr/>
        </p:nvSpPr>
        <p:spPr>
          <a:xfrm>
            <a:off x="4937759" y="2316989"/>
            <a:ext cx="3566160" cy="669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주목한 토큰에서 어떤 정보를 추출하여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residual stream에 쓸지 결정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도서관 비유: "꺼낸 책에서 어떤 내용을 발췌?"</a:t>
            </a:r>
          </a:p>
        </p:txBody>
      </p:sp>
      <p:sp>
        <p:nvSpPr>
          <p:cNvPr id="124" name="Shape 12"/>
          <p:cNvSpPr/>
          <p:nvPr/>
        </p:nvSpPr>
        <p:spPr>
          <a:xfrm>
            <a:off x="731520" y="3657599"/>
            <a:ext cx="7680960" cy="731522"/>
          </a:xfrm>
          <a:prstGeom prst="rect">
            <a:avLst/>
          </a:prstGeom>
          <a:solidFill>
            <a:srgbClr val="141E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Text 13"/>
          <p:cNvSpPr txBox="1"/>
          <p:nvPr/>
        </p:nvSpPr>
        <p:spPr>
          <a:xfrm>
            <a:off x="914400" y="3928109"/>
            <a:ext cx="73152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핵심: 두 회로는 독립적. 같은 Q-K pattern이라도 O-V가 다르면 완전히 다른 정보가 이동.</a:t>
            </a:r>
          </a:p>
        </p:txBody>
      </p:sp>
      <p:sp>
        <p:nvSpPr>
          <p:cNvPr id="126" name="Text 14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127" name="Text 15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복잡도를 올리며 발견하기</a:t>
            </a:r>
          </a:p>
        </p:txBody>
      </p:sp>
      <p:sp>
        <p:nvSpPr>
          <p:cNvPr id="131" name="Shape 2"/>
          <p:cNvSpPr/>
          <p:nvPr/>
        </p:nvSpPr>
        <p:spPr>
          <a:xfrm>
            <a:off x="274319" y="1097279"/>
            <a:ext cx="2651762" cy="2926082"/>
          </a:xfrm>
          <a:prstGeom prst="rect">
            <a:avLst/>
          </a:prstGeom>
          <a:solidFill>
            <a:srgbClr val="1E293B"/>
          </a:solidFill>
          <a:ln w="19050">
            <a:solidFill>
              <a:srgbClr val="64748B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2" name="Shape 3"/>
          <p:cNvSpPr/>
          <p:nvPr/>
        </p:nvSpPr>
        <p:spPr>
          <a:xfrm>
            <a:off x="274319" y="1097280"/>
            <a:ext cx="2651762" cy="502920"/>
          </a:xfrm>
          <a:prstGeom prst="rect">
            <a:avLst/>
          </a:prstGeom>
          <a:solidFill>
            <a:srgbClr val="64748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4"/>
          <p:cNvSpPr txBox="1"/>
          <p:nvPr/>
        </p:nvSpPr>
        <p:spPr>
          <a:xfrm>
            <a:off x="274319" y="1237763"/>
            <a:ext cx="265176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0-Layer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411480" y="1804830"/>
            <a:ext cx="23774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Bigram</a:t>
            </a:r>
          </a:p>
        </p:txBody>
      </p:sp>
      <p:sp>
        <p:nvSpPr>
          <p:cNvPr id="135" name="Text 6"/>
          <p:cNvSpPr txBox="1"/>
          <p:nvPr/>
        </p:nvSpPr>
        <p:spPr>
          <a:xfrm>
            <a:off x="411480" y="2324099"/>
            <a:ext cx="23774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logits = W_U · W_E</a:t>
            </a:r>
          </a:p>
        </p:txBody>
      </p:sp>
      <p:sp>
        <p:nvSpPr>
          <p:cNvPr id="136" name="Text 7"/>
          <p:cNvSpPr txBox="1"/>
          <p:nvPr/>
        </p:nvSpPr>
        <p:spPr>
          <a:xfrm>
            <a:off x="411480" y="3039619"/>
            <a:ext cx="237744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직전 토큰만 보고 예측.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|V|×|V| bigram 통계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테이블과 동치.</a:t>
            </a:r>
          </a:p>
        </p:txBody>
      </p:sp>
      <p:sp>
        <p:nvSpPr>
          <p:cNvPr id="137" name="Shape 8"/>
          <p:cNvSpPr/>
          <p:nvPr/>
        </p:nvSpPr>
        <p:spPr>
          <a:xfrm>
            <a:off x="3108960" y="1097279"/>
            <a:ext cx="2651761" cy="2926082"/>
          </a:xfrm>
          <a:prstGeom prst="rect">
            <a:avLst/>
          </a:prstGeom>
          <a:solidFill>
            <a:srgbClr val="1E293B"/>
          </a:solidFill>
          <a:ln w="19050">
            <a:solidFill>
              <a:srgbClr val="0891B2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8" name="Shape 9"/>
          <p:cNvSpPr/>
          <p:nvPr/>
        </p:nvSpPr>
        <p:spPr>
          <a:xfrm>
            <a:off x="3108960" y="1097280"/>
            <a:ext cx="2651761" cy="502920"/>
          </a:xfrm>
          <a:prstGeom prst="rect">
            <a:avLst/>
          </a:prstGeom>
          <a:solidFill>
            <a:srgbClr val="0891B2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9" name="Text 10"/>
          <p:cNvSpPr txBox="1"/>
          <p:nvPr/>
        </p:nvSpPr>
        <p:spPr>
          <a:xfrm>
            <a:off x="3108960" y="1237763"/>
            <a:ext cx="2651761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1-Layer</a:t>
            </a:r>
          </a:p>
        </p:txBody>
      </p:sp>
      <p:sp>
        <p:nvSpPr>
          <p:cNvPr id="140" name="Text 11"/>
          <p:cNvSpPr txBox="1"/>
          <p:nvPr/>
        </p:nvSpPr>
        <p:spPr>
          <a:xfrm>
            <a:off x="3246120" y="1804830"/>
            <a:ext cx="23774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Skip-Trigram</a:t>
            </a:r>
          </a:p>
        </p:txBody>
      </p:sp>
      <p:sp>
        <p:nvSpPr>
          <p:cNvPr id="141" name="Text 12"/>
          <p:cNvSpPr txBox="1"/>
          <p:nvPr/>
        </p:nvSpPr>
        <p:spPr>
          <a:xfrm>
            <a:off x="3246120" y="2324099"/>
            <a:ext cx="23774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bigram + Σ W_U·W_OV·A·W_E</a:t>
            </a:r>
          </a:p>
        </p:txBody>
      </p:sp>
      <p:sp>
        <p:nvSpPr>
          <p:cNvPr id="142" name="Text 13"/>
          <p:cNvSpPr txBox="1"/>
          <p:nvPr/>
        </p:nvSpPr>
        <p:spPr>
          <a:xfrm>
            <a:off x="3246120" y="3048254"/>
            <a:ext cx="2377441" cy="48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Bigram + Head 경유 경로.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"A ... B → C"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멀리 있는 토큰도 참조.</a:t>
            </a:r>
          </a:p>
        </p:txBody>
      </p:sp>
      <p:sp>
        <p:nvSpPr>
          <p:cNvPr id="143" name="Shape 14"/>
          <p:cNvSpPr/>
          <p:nvPr/>
        </p:nvSpPr>
        <p:spPr>
          <a:xfrm>
            <a:off x="5943599" y="1097279"/>
            <a:ext cx="2651762" cy="292608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4" name="Shape 15"/>
          <p:cNvSpPr/>
          <p:nvPr/>
        </p:nvSpPr>
        <p:spPr>
          <a:xfrm>
            <a:off x="5943599" y="1097280"/>
            <a:ext cx="2651762" cy="502920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16"/>
          <p:cNvSpPr txBox="1"/>
          <p:nvPr/>
        </p:nvSpPr>
        <p:spPr>
          <a:xfrm>
            <a:off x="5943599" y="1237763"/>
            <a:ext cx="2651762" cy="221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2-Layer</a:t>
            </a:r>
          </a:p>
        </p:txBody>
      </p:sp>
      <p:sp>
        <p:nvSpPr>
          <p:cNvPr id="146" name="Text 17"/>
          <p:cNvSpPr txBox="1"/>
          <p:nvPr/>
        </p:nvSpPr>
        <p:spPr>
          <a:xfrm>
            <a:off x="6080759" y="1804830"/>
            <a:ext cx="2377441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Induction Head</a:t>
            </a:r>
          </a:p>
        </p:txBody>
      </p:sp>
      <p:sp>
        <p:nvSpPr>
          <p:cNvPr id="147" name="Text 18"/>
          <p:cNvSpPr txBox="1"/>
          <p:nvPr/>
        </p:nvSpPr>
        <p:spPr>
          <a:xfrm>
            <a:off x="6080759" y="2324099"/>
            <a:ext cx="237744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[A][B]...[A] → [B]</a:t>
            </a:r>
          </a:p>
        </p:txBody>
      </p:sp>
      <p:sp>
        <p:nvSpPr>
          <p:cNvPr id="148" name="Text 19"/>
          <p:cNvSpPr txBox="1"/>
          <p:nvPr/>
        </p:nvSpPr>
        <p:spPr>
          <a:xfrm>
            <a:off x="6080759" y="3039619"/>
            <a:ext cx="237744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Head 간 Composition.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In-context learning의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가장 기초적 형태.</a:t>
            </a:r>
          </a:p>
        </p:txBody>
      </p:sp>
      <p:sp>
        <p:nvSpPr>
          <p:cNvPr id="149" name="Text 20"/>
          <p:cNvSpPr txBox="1"/>
          <p:nvPr/>
        </p:nvSpPr>
        <p:spPr>
          <a:xfrm>
            <a:off x="2926079" y="2098384"/>
            <a:ext cx="27432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0" name="Text 21"/>
          <p:cNvSpPr txBox="1"/>
          <p:nvPr/>
        </p:nvSpPr>
        <p:spPr>
          <a:xfrm>
            <a:off x="5760720" y="2098384"/>
            <a:ext cx="274321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51" name="Text 22"/>
          <p:cNvSpPr txBox="1"/>
          <p:nvPr/>
        </p:nvSpPr>
        <p:spPr>
          <a:xfrm>
            <a:off x="731520" y="4406645"/>
            <a:ext cx="7680960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Induction Head = Previous Token Head (L1) + Induction Head (L2) = K-composition</a:t>
            </a:r>
          </a:p>
        </p:txBody>
      </p:sp>
      <p:sp>
        <p:nvSpPr>
          <p:cNvPr id="152" name="Text 23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153" name="Text 24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7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6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Logit Lens</a:t>
            </a:r>
          </a:p>
        </p:txBody>
      </p:sp>
      <p:sp>
        <p:nvSpPr>
          <p:cNvPr id="157" name="Text 2"/>
          <p:cNvSpPr txBox="1"/>
          <p:nvPr/>
        </p:nvSpPr>
        <p:spPr>
          <a:xfrm>
            <a:off x="731519" y="852170"/>
            <a:ext cx="7315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Residual Stream을 들여다보는 도구</a:t>
            </a:r>
          </a:p>
        </p:txBody>
      </p:sp>
      <p:sp>
        <p:nvSpPr>
          <p:cNvPr id="158" name="Shape 3"/>
          <p:cNvSpPr/>
          <p:nvPr/>
        </p:nvSpPr>
        <p:spPr>
          <a:xfrm>
            <a:off x="457200" y="1371599"/>
            <a:ext cx="4114800" cy="2560322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4"/>
          <p:cNvSpPr txBox="1"/>
          <p:nvPr/>
        </p:nvSpPr>
        <p:spPr>
          <a:xfrm>
            <a:off x="640080" y="1521459"/>
            <a:ext cx="18288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아이디어</a:t>
            </a:r>
          </a:p>
        </p:txBody>
      </p:sp>
      <p:sp>
        <p:nvSpPr>
          <p:cNvPr id="160" name="Text 5"/>
          <p:cNvSpPr txBox="1"/>
          <p:nvPr/>
        </p:nvSpPr>
        <p:spPr>
          <a:xfrm>
            <a:off x="640079" y="1951229"/>
            <a:ext cx="3749042" cy="669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Unembedding W_U를 마지막 layer뿐 아니라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중간 layer에도 적용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그 시점까지의 "중간 예측 상태" 관찰</a:t>
            </a:r>
          </a:p>
        </p:txBody>
      </p:sp>
      <p:sp>
        <p:nvSpPr>
          <p:cNvPr id="161" name="Text 6"/>
          <p:cNvSpPr txBox="1"/>
          <p:nvPr/>
        </p:nvSpPr>
        <p:spPr>
          <a:xfrm>
            <a:off x="640079" y="2885439"/>
            <a:ext cx="374904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2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logits_l = W_U · h_l</a:t>
            </a:r>
          </a:p>
          <a:p>
            <a:pPr>
              <a:defRPr sz="12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P_l(next) = softmax(W_U · h_l)</a:t>
            </a:r>
          </a:p>
        </p:txBody>
      </p:sp>
      <p:sp>
        <p:nvSpPr>
          <p:cNvPr id="162" name="Text 7"/>
          <p:cNvSpPr txBox="1"/>
          <p:nvPr/>
        </p:nvSpPr>
        <p:spPr>
          <a:xfrm>
            <a:off x="640079" y="3457402"/>
            <a:ext cx="3749042" cy="308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작동 이유: 모든 layer가 같은 벡터 공간에서</a:t>
            </a:r>
          </a:p>
          <a:p>
            <a:pPr>
              <a:defRPr sz="10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정보를 누적 (residual stream 구조)</a:t>
            </a:r>
          </a:p>
        </p:txBody>
      </p:sp>
      <p:sp>
        <p:nvSpPr>
          <p:cNvPr id="163" name="Shape 8"/>
          <p:cNvSpPr/>
          <p:nvPr/>
        </p:nvSpPr>
        <p:spPr>
          <a:xfrm>
            <a:off x="4846320" y="1371599"/>
            <a:ext cx="3840481" cy="2560322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9"/>
          <p:cNvSpPr txBox="1"/>
          <p:nvPr/>
        </p:nvSpPr>
        <p:spPr>
          <a:xfrm>
            <a:off x="5029200" y="1521459"/>
            <a:ext cx="27432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전형적 패턴</a:t>
            </a:r>
          </a:p>
        </p:txBody>
      </p:sp>
      <p:sp>
        <p:nvSpPr>
          <p:cNvPr id="165" name="Text 10"/>
          <p:cNvSpPr txBox="1"/>
          <p:nvPr/>
        </p:nvSpPr>
        <p:spPr>
          <a:xfrm>
            <a:off x="5029199" y="2039620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Layer 1-3</a:t>
            </a:r>
          </a:p>
        </p:txBody>
      </p:sp>
      <p:sp>
        <p:nvSpPr>
          <p:cNvPr id="166" name="Shape 11"/>
          <p:cNvSpPr/>
          <p:nvPr/>
        </p:nvSpPr>
        <p:spPr>
          <a:xfrm>
            <a:off x="6126479" y="1993392"/>
            <a:ext cx="457201" cy="201169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12"/>
          <p:cNvSpPr txBox="1"/>
          <p:nvPr/>
        </p:nvSpPr>
        <p:spPr>
          <a:xfrm>
            <a:off x="6675119" y="203962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평탄한 분포</a:t>
            </a:r>
          </a:p>
        </p:txBody>
      </p:sp>
      <p:sp>
        <p:nvSpPr>
          <p:cNvPr id="168" name="Text 13"/>
          <p:cNvSpPr txBox="1"/>
          <p:nvPr/>
        </p:nvSpPr>
        <p:spPr>
          <a:xfrm>
            <a:off x="5029199" y="2542539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Layer 4-6</a:t>
            </a:r>
          </a:p>
        </p:txBody>
      </p:sp>
      <p:sp>
        <p:nvSpPr>
          <p:cNvPr id="169" name="Shape 14"/>
          <p:cNvSpPr/>
          <p:nvPr/>
        </p:nvSpPr>
        <p:spPr>
          <a:xfrm>
            <a:off x="6126479" y="2496311"/>
            <a:ext cx="673220" cy="201169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5"/>
          <p:cNvSpPr txBox="1"/>
          <p:nvPr/>
        </p:nvSpPr>
        <p:spPr>
          <a:xfrm>
            <a:off x="6908800" y="2550795"/>
            <a:ext cx="18288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정답 토큰 등장</a:t>
            </a:r>
          </a:p>
        </p:txBody>
      </p:sp>
      <p:sp>
        <p:nvSpPr>
          <p:cNvPr id="171" name="Text 16"/>
          <p:cNvSpPr txBox="1"/>
          <p:nvPr/>
        </p:nvSpPr>
        <p:spPr>
          <a:xfrm>
            <a:off x="5029199" y="3045459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Layer 7-9</a:t>
            </a:r>
          </a:p>
        </p:txBody>
      </p:sp>
      <p:sp>
        <p:nvSpPr>
          <p:cNvPr id="172" name="Shape 17"/>
          <p:cNvSpPr/>
          <p:nvPr/>
        </p:nvSpPr>
        <p:spPr>
          <a:xfrm>
            <a:off x="6126479" y="2999232"/>
            <a:ext cx="947332" cy="201169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18"/>
          <p:cNvSpPr txBox="1"/>
          <p:nvPr/>
        </p:nvSpPr>
        <p:spPr>
          <a:xfrm>
            <a:off x="7183119" y="3045459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확신 강화</a:t>
            </a:r>
          </a:p>
        </p:txBody>
      </p:sp>
      <p:sp>
        <p:nvSpPr>
          <p:cNvPr id="174" name="Text 19"/>
          <p:cNvSpPr txBox="1"/>
          <p:nvPr/>
        </p:nvSpPr>
        <p:spPr>
          <a:xfrm>
            <a:off x="5029199" y="3548380"/>
            <a:ext cx="109728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Layer 10-12</a:t>
            </a:r>
          </a:p>
        </p:txBody>
      </p:sp>
      <p:sp>
        <p:nvSpPr>
          <p:cNvPr id="175" name="Shape 20"/>
          <p:cNvSpPr/>
          <p:nvPr/>
        </p:nvSpPr>
        <p:spPr>
          <a:xfrm>
            <a:off x="6126479" y="3502152"/>
            <a:ext cx="1097281" cy="201169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6" name="Text 21"/>
          <p:cNvSpPr txBox="1"/>
          <p:nvPr/>
        </p:nvSpPr>
        <p:spPr>
          <a:xfrm>
            <a:off x="7358380" y="3548380"/>
            <a:ext cx="18288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최종 예측</a:t>
            </a:r>
          </a:p>
        </p:txBody>
      </p:sp>
      <p:sp>
        <p:nvSpPr>
          <p:cNvPr id="177" name="Shape 22"/>
          <p:cNvSpPr/>
          <p:nvPr/>
        </p:nvSpPr>
        <p:spPr>
          <a:xfrm>
            <a:off x="731520" y="4160520"/>
            <a:ext cx="7680960" cy="457201"/>
          </a:xfrm>
          <a:prstGeom prst="rect">
            <a:avLst/>
          </a:prstGeom>
          <a:solidFill>
            <a:srgbClr val="141E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Text 23"/>
          <p:cNvSpPr txBox="1"/>
          <p:nvPr/>
        </p:nvSpPr>
        <p:spPr>
          <a:xfrm>
            <a:off x="914400" y="4293870"/>
            <a:ext cx="73152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7E8F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 Causal Tracing, Path Patching 등 정교한 분석 기법의 출발점</a:t>
            </a:r>
          </a:p>
        </p:txBody>
      </p:sp>
      <p:sp>
        <p:nvSpPr>
          <p:cNvPr id="179" name="Text 24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180" name="Text 25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8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3" name="Text 1"/>
          <p:cNvSpPr txBox="1"/>
          <p:nvPr/>
        </p:nvSpPr>
        <p:spPr>
          <a:xfrm>
            <a:off x="731519" y="1547228"/>
            <a:ext cx="731520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pc="600" sz="14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WEEK 2</a:t>
            </a:r>
          </a:p>
        </p:txBody>
      </p:sp>
      <p:sp>
        <p:nvSpPr>
          <p:cNvPr id="184" name="Text 2"/>
          <p:cNvSpPr txBox="1"/>
          <p:nvPr/>
        </p:nvSpPr>
        <p:spPr>
          <a:xfrm>
            <a:off x="731519" y="1912619"/>
            <a:ext cx="7315201" cy="1295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36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FFN의 역할과</a:t>
            </a:r>
          </a:p>
          <a:p>
            <a:pPr>
              <a:defRPr sz="36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pPr>
            <a:r>
              <a:t>사실 편집 (ROME)</a:t>
            </a:r>
          </a:p>
        </p:txBody>
      </p:sp>
      <p:sp>
        <p:nvSpPr>
          <p:cNvPr id="185" name="Shape 3"/>
          <p:cNvSpPr/>
          <p:nvPr/>
        </p:nvSpPr>
        <p:spPr>
          <a:xfrm>
            <a:off x="731519" y="3474720"/>
            <a:ext cx="1828802" cy="1"/>
          </a:xfrm>
          <a:prstGeom prst="line">
            <a:avLst/>
          </a:prstGeom>
          <a:ln w="25400">
            <a:solidFill>
              <a:srgbClr val="05966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Text 4"/>
          <p:cNvSpPr txBox="1"/>
          <p:nvPr/>
        </p:nvSpPr>
        <p:spPr>
          <a:xfrm>
            <a:off x="731519" y="3799792"/>
            <a:ext cx="731520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Geva et al. (EMNLP 2021)  +  Meng et al. (NeurIPS 2022)</a:t>
            </a:r>
          </a:p>
        </p:txBody>
      </p:sp>
      <p:sp>
        <p:nvSpPr>
          <p:cNvPr id="187" name="Text 5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188" name="Text 6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9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FFN = Key-Value Memory</a:t>
            </a:r>
          </a:p>
        </p:txBody>
      </p:sp>
      <p:sp>
        <p:nvSpPr>
          <p:cNvPr id="192" name="Shape 2"/>
          <p:cNvSpPr/>
          <p:nvPr/>
        </p:nvSpPr>
        <p:spPr>
          <a:xfrm>
            <a:off x="457200" y="1097280"/>
            <a:ext cx="8229600" cy="1371601"/>
          </a:xfrm>
          <a:prstGeom prst="rect">
            <a:avLst/>
          </a:prstGeom>
          <a:solidFill>
            <a:srgbClr val="141E33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ext 3"/>
          <p:cNvSpPr txBox="1"/>
          <p:nvPr/>
        </p:nvSpPr>
        <p:spPr>
          <a:xfrm>
            <a:off x="457200" y="122809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67E8F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FFN(x) = W₂ · ReLU(W₁x + b₁) + b₂</a:t>
            </a:r>
          </a:p>
        </p:txBody>
      </p:sp>
      <p:sp>
        <p:nvSpPr>
          <p:cNvPr id="194" name="Text 4"/>
          <p:cNvSpPr txBox="1"/>
          <p:nvPr/>
        </p:nvSpPr>
        <p:spPr>
          <a:xfrm>
            <a:off x="457200" y="1638528"/>
            <a:ext cx="8229600" cy="243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FBBF2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= Σᵢ  ReLU(kᵢ · x + bᵢ) · vᵢ</a:t>
            </a:r>
          </a:p>
        </p:txBody>
      </p:sp>
      <p:sp>
        <p:nvSpPr>
          <p:cNvPr id="195" name="Text 5"/>
          <p:cNvSpPr txBox="1"/>
          <p:nvPr/>
        </p:nvSpPr>
        <p:spPr>
          <a:xfrm>
            <a:off x="457200" y="2084259"/>
            <a:ext cx="8229600" cy="174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W₁의 i번째 행 = key kᵢ (패턴 매칭)          W₂의 i번째 열 = value vᵢ (정보 출력)</a:t>
            </a:r>
          </a:p>
        </p:txBody>
      </p:sp>
      <p:sp>
        <p:nvSpPr>
          <p:cNvPr id="196" name="Shape 6"/>
          <p:cNvSpPr/>
          <p:nvPr/>
        </p:nvSpPr>
        <p:spPr>
          <a:xfrm>
            <a:off x="457199" y="2743199"/>
            <a:ext cx="3931922" cy="1463042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7"/>
          <p:cNvSpPr txBox="1"/>
          <p:nvPr/>
        </p:nvSpPr>
        <p:spPr>
          <a:xfrm>
            <a:off x="640079" y="2893059"/>
            <a:ext cx="356616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Attention K-V: 동적</a:t>
            </a:r>
          </a:p>
        </p:txBody>
      </p:sp>
      <p:sp>
        <p:nvSpPr>
          <p:cNvPr id="198" name="Text 8"/>
          <p:cNvSpPr txBox="1"/>
          <p:nvPr/>
        </p:nvSpPr>
        <p:spPr>
          <a:xfrm>
            <a:off x="640079" y="3359659"/>
            <a:ext cx="356616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현재 입력에서 매번 새로 계산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"방금 한 말을 참조하는 것"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문맥 의존적 정보 교환</a:t>
            </a:r>
          </a:p>
        </p:txBody>
      </p:sp>
      <p:sp>
        <p:nvSpPr>
          <p:cNvPr id="199" name="Shape 9"/>
          <p:cNvSpPr/>
          <p:nvPr/>
        </p:nvSpPr>
        <p:spPr>
          <a:xfrm>
            <a:off x="4754879" y="2743199"/>
            <a:ext cx="3931921" cy="1463042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0" name="Text 10"/>
          <p:cNvSpPr txBox="1"/>
          <p:nvPr/>
        </p:nvSpPr>
        <p:spPr>
          <a:xfrm>
            <a:off x="4937759" y="2893059"/>
            <a:ext cx="356616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FFN K-V: 고정</a:t>
            </a:r>
          </a:p>
        </p:txBody>
      </p:sp>
      <p:sp>
        <p:nvSpPr>
          <p:cNvPr id="201" name="Text 11"/>
          <p:cNvSpPr txBox="1"/>
          <p:nvPr/>
        </p:nvSpPr>
        <p:spPr>
          <a:xfrm>
            <a:off x="4937759" y="3359659"/>
            <a:ext cx="3566160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훈련 후 가중치에 고정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"머릿속에 저장해둔 지식을 꺼내 쓰는 것"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사실적 지식 저장소</a:t>
            </a:r>
          </a:p>
        </p:txBody>
      </p:sp>
      <p:sp>
        <p:nvSpPr>
          <p:cNvPr id="202" name="Text 12"/>
          <p:cNvSpPr txBox="1"/>
          <p:nvPr/>
        </p:nvSpPr>
        <p:spPr>
          <a:xfrm>
            <a:off x="731520" y="4464050"/>
            <a:ext cx="768096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Attention은 문맥을 읽고, FFN은 지식을 꺼낸다.</a:t>
            </a:r>
          </a:p>
        </p:txBody>
      </p:sp>
      <p:sp>
        <p:nvSpPr>
          <p:cNvPr id="203" name="Text 13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204" name="Text 14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10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7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FFN이 저장하는 것: 실험적 발견</a:t>
            </a:r>
          </a:p>
        </p:txBody>
      </p:sp>
      <p:sp>
        <p:nvSpPr>
          <p:cNvPr id="208" name="Shape 2"/>
          <p:cNvSpPr/>
          <p:nvPr/>
        </p:nvSpPr>
        <p:spPr>
          <a:xfrm>
            <a:off x="457199" y="1097280"/>
            <a:ext cx="3931922" cy="1828801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9" name="Text 3"/>
          <p:cNvSpPr txBox="1"/>
          <p:nvPr/>
        </p:nvSpPr>
        <p:spPr>
          <a:xfrm>
            <a:off x="640079" y="1234565"/>
            <a:ext cx="3566161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측 (W₁ 행)</a:t>
            </a:r>
          </a:p>
        </p:txBody>
      </p:sp>
      <p:sp>
        <p:nvSpPr>
          <p:cNvPr id="210" name="Text 4"/>
          <p:cNvSpPr txBox="1"/>
          <p:nvPr/>
        </p:nvSpPr>
        <p:spPr>
          <a:xfrm>
            <a:off x="640079" y="1690119"/>
            <a:ext cx="3566161" cy="1008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특정 입력 텍스트 패턴에 활성화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하위 층 (1-4): 구문적/표면적 패턴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예: "대문자 뒤에 대문자"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상위 층 (8-12): 의미적/사실적 패턴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예: "에펠탑 관련 문맥"</a:t>
            </a:r>
          </a:p>
        </p:txBody>
      </p:sp>
      <p:sp>
        <p:nvSpPr>
          <p:cNvPr id="211" name="Shape 5"/>
          <p:cNvSpPr/>
          <p:nvPr/>
        </p:nvSpPr>
        <p:spPr>
          <a:xfrm>
            <a:off x="4754879" y="1097280"/>
            <a:ext cx="3931921" cy="1828801"/>
          </a:xfrm>
          <a:prstGeom prst="rect">
            <a:avLst/>
          </a:prstGeom>
          <a:solidFill>
            <a:srgbClr val="1E293B"/>
          </a:solidFill>
          <a:ln w="12700">
            <a:solidFill>
              <a:srgbClr val="F472B6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2" name="Text 6"/>
          <p:cNvSpPr txBox="1"/>
          <p:nvPr/>
        </p:nvSpPr>
        <p:spPr>
          <a:xfrm>
            <a:off x="4937759" y="1234565"/>
            <a:ext cx="3566160" cy="228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472B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Value 측 (W₂ 열)</a:t>
            </a:r>
          </a:p>
        </p:txBody>
      </p:sp>
      <p:sp>
        <p:nvSpPr>
          <p:cNvPr id="213" name="Text 7"/>
          <p:cNvSpPr txBox="1"/>
          <p:nvPr/>
        </p:nvSpPr>
        <p:spPr>
          <a:xfrm>
            <a:off x="4937759" y="1690119"/>
            <a:ext cx="3566160" cy="10088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Unembedding 변환 시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특정 출력 토큰 분포에 대응</a:t>
            </a:r>
          </a:p>
          <a:p>
            <a:pPr>
              <a:defRPr sz="1100"/>
            </a:pP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예: "수도" key의 value →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Paris, London, Tokyo 등의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  확률을 높이는 벡터</a:t>
            </a:r>
          </a:p>
        </p:txBody>
      </p:sp>
      <p:sp>
        <p:nvSpPr>
          <p:cNvPr id="214" name="Shape 8"/>
          <p:cNvSpPr/>
          <p:nvPr/>
        </p:nvSpPr>
        <p:spPr>
          <a:xfrm>
            <a:off x="731520" y="3200400"/>
            <a:ext cx="7680960" cy="914400"/>
          </a:xfrm>
          <a:prstGeom prst="rect">
            <a:avLst/>
          </a:prstGeom>
          <a:solidFill>
            <a:srgbClr val="141E33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5" name="Text 9"/>
          <p:cNvSpPr txBox="1"/>
          <p:nvPr/>
        </p:nvSpPr>
        <p:spPr>
          <a:xfrm>
            <a:off x="914400" y="3343910"/>
            <a:ext cx="2743200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각 뉴런 = if-then 규칙</a:t>
            </a:r>
          </a:p>
        </p:txBody>
      </p:sp>
      <p:sp>
        <p:nvSpPr>
          <p:cNvPr id="216" name="Text 10"/>
          <p:cNvSpPr txBox="1"/>
          <p:nvPr/>
        </p:nvSpPr>
        <p:spPr>
          <a:xfrm>
            <a:off x="914400" y="3673094"/>
            <a:ext cx="7315200" cy="3347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"이런 패턴이 나타나면 → 이런 토큰을 예측하라"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Logit Lens로 value를 unembedding하면 각 메모리 슬롯이 무엇을 '기억하는지' 관찰 가능</a:t>
            </a:r>
          </a:p>
        </p:txBody>
      </p:sp>
      <p:sp>
        <p:nvSpPr>
          <p:cNvPr id="217" name="Text 11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218" name="Text 12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11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1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Causal Tracing: 사실의 위치 찾기</a:t>
            </a:r>
          </a:p>
        </p:txBody>
      </p:sp>
      <p:sp>
        <p:nvSpPr>
          <p:cNvPr id="222" name="Shape 2"/>
          <p:cNvSpPr/>
          <p:nvPr/>
        </p:nvSpPr>
        <p:spPr>
          <a:xfrm>
            <a:off x="274320" y="1097279"/>
            <a:ext cx="2743201" cy="1645922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3" name="Shape 3"/>
          <p:cNvSpPr/>
          <p:nvPr/>
        </p:nvSpPr>
        <p:spPr>
          <a:xfrm>
            <a:off x="411480" y="1234439"/>
            <a:ext cx="365761" cy="365761"/>
          </a:xfrm>
          <a:prstGeom prst="ellipse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4"/>
          <p:cNvSpPr txBox="1"/>
          <p:nvPr/>
        </p:nvSpPr>
        <p:spPr>
          <a:xfrm>
            <a:off x="411480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25" name="Text 5"/>
          <p:cNvSpPr txBox="1"/>
          <p:nvPr/>
        </p:nvSpPr>
        <p:spPr>
          <a:xfrm>
            <a:off x="868680" y="1318628"/>
            <a:ext cx="2011679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Clean Run</a:t>
            </a:r>
          </a:p>
        </p:txBody>
      </p:sp>
      <p:sp>
        <p:nvSpPr>
          <p:cNvPr id="226" name="Text 6"/>
          <p:cNvSpPr txBox="1"/>
          <p:nvPr/>
        </p:nvSpPr>
        <p:spPr>
          <a:xfrm>
            <a:off x="411479" y="1896619"/>
            <a:ext cx="2468882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정상 실행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모든 hidden state 기록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정답 스냅샷</a:t>
            </a:r>
          </a:p>
        </p:txBody>
      </p:sp>
      <p:sp>
        <p:nvSpPr>
          <p:cNvPr id="227" name="Shape 7"/>
          <p:cNvSpPr/>
          <p:nvPr/>
        </p:nvSpPr>
        <p:spPr>
          <a:xfrm>
            <a:off x="3200400" y="1097279"/>
            <a:ext cx="2743200" cy="1645922"/>
          </a:xfrm>
          <a:prstGeom prst="rect">
            <a:avLst/>
          </a:prstGeom>
          <a:solidFill>
            <a:srgbClr val="1E293B"/>
          </a:solidFill>
          <a:ln w="19050">
            <a:solidFill>
              <a:srgbClr val="FB923C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Shape 8"/>
          <p:cNvSpPr/>
          <p:nvPr/>
        </p:nvSpPr>
        <p:spPr>
          <a:xfrm>
            <a:off x="3337559" y="1234439"/>
            <a:ext cx="365761" cy="365761"/>
          </a:xfrm>
          <a:prstGeom prst="ellipse">
            <a:avLst/>
          </a:prstGeom>
          <a:solidFill>
            <a:srgbClr val="FB923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9" name="Text 9"/>
          <p:cNvSpPr txBox="1"/>
          <p:nvPr/>
        </p:nvSpPr>
        <p:spPr>
          <a:xfrm>
            <a:off x="3337559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30" name="Text 10"/>
          <p:cNvSpPr txBox="1"/>
          <p:nvPr/>
        </p:nvSpPr>
        <p:spPr>
          <a:xfrm>
            <a:off x="3794759" y="1318628"/>
            <a:ext cx="20116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Corrupted</a:t>
            </a:r>
          </a:p>
        </p:txBody>
      </p:sp>
      <p:sp>
        <p:nvSpPr>
          <p:cNvPr id="231" name="Text 11"/>
          <p:cNvSpPr txBox="1"/>
          <p:nvPr/>
        </p:nvSpPr>
        <p:spPr>
          <a:xfrm>
            <a:off x="3337559" y="1896619"/>
            <a:ext cx="246888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 토큰에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가우시안 노이즈 추가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오답 출력</a:t>
            </a:r>
          </a:p>
        </p:txBody>
      </p:sp>
      <p:sp>
        <p:nvSpPr>
          <p:cNvPr id="232" name="Shape 12"/>
          <p:cNvSpPr/>
          <p:nvPr/>
        </p:nvSpPr>
        <p:spPr>
          <a:xfrm>
            <a:off x="6126479" y="1097279"/>
            <a:ext cx="2743201" cy="1645922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33" name="Shape 13"/>
          <p:cNvSpPr/>
          <p:nvPr/>
        </p:nvSpPr>
        <p:spPr>
          <a:xfrm>
            <a:off x="6263640" y="1234439"/>
            <a:ext cx="365761" cy="365761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4"/>
          <p:cNvSpPr txBox="1"/>
          <p:nvPr/>
        </p:nvSpPr>
        <p:spPr>
          <a:xfrm>
            <a:off x="6263640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35" name="Text 15"/>
          <p:cNvSpPr txBox="1"/>
          <p:nvPr/>
        </p:nvSpPr>
        <p:spPr>
          <a:xfrm>
            <a:off x="6720840" y="1318628"/>
            <a:ext cx="2011680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Restore</a:t>
            </a:r>
          </a:p>
        </p:txBody>
      </p:sp>
      <p:sp>
        <p:nvSpPr>
          <p:cNvPr id="236" name="Text 16"/>
          <p:cNvSpPr txBox="1"/>
          <p:nvPr/>
        </p:nvSpPr>
        <p:spPr>
          <a:xfrm>
            <a:off x="6263640" y="1896619"/>
            <a:ext cx="246888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특정 (층, 위치)만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Clean 값으로 복원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정답 복구 = 인과적</a:t>
            </a:r>
          </a:p>
        </p:txBody>
      </p:sp>
      <p:sp>
        <p:nvSpPr>
          <p:cNvPr id="237" name="Text 17"/>
          <p:cNvSpPr txBox="1"/>
          <p:nvPr/>
        </p:nvSpPr>
        <p:spPr>
          <a:xfrm>
            <a:off x="731519" y="3079750"/>
            <a:ext cx="73152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결과: 두 개의 결정적 Site</a:t>
            </a:r>
          </a:p>
        </p:txBody>
      </p:sp>
      <p:sp>
        <p:nvSpPr>
          <p:cNvPr id="238" name="Shape 18"/>
          <p:cNvSpPr/>
          <p:nvPr/>
        </p:nvSpPr>
        <p:spPr>
          <a:xfrm>
            <a:off x="457199" y="3474720"/>
            <a:ext cx="3931922" cy="914401"/>
          </a:xfrm>
          <a:prstGeom prst="rect">
            <a:avLst/>
          </a:prstGeom>
          <a:solidFill>
            <a:srgbClr val="1E293B"/>
          </a:solidFill>
          <a:ln w="12700">
            <a:solidFill>
              <a:srgbClr val="FB923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19"/>
          <p:cNvSpPr txBox="1"/>
          <p:nvPr/>
        </p:nvSpPr>
        <p:spPr>
          <a:xfrm>
            <a:off x="640079" y="3562350"/>
            <a:ext cx="35661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B923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Early Site: 중간층 MLP</a:t>
            </a:r>
          </a:p>
        </p:txBody>
      </p:sp>
      <p:sp>
        <p:nvSpPr>
          <p:cNvPr id="240" name="Text 20"/>
          <p:cNvSpPr txBox="1"/>
          <p:nvPr/>
        </p:nvSpPr>
        <p:spPr>
          <a:xfrm>
            <a:off x="640079" y="3914602"/>
            <a:ext cx="3566161" cy="308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 마지막 토큰 위치, ~Layer 15-18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MLP가 사실을 recall → residual stream에 쓰기</a:t>
            </a:r>
          </a:p>
        </p:txBody>
      </p:sp>
      <p:sp>
        <p:nvSpPr>
          <p:cNvPr id="241" name="Shape 21"/>
          <p:cNvSpPr/>
          <p:nvPr/>
        </p:nvSpPr>
        <p:spPr>
          <a:xfrm>
            <a:off x="4754879" y="3474720"/>
            <a:ext cx="3931921" cy="914401"/>
          </a:xfrm>
          <a:prstGeom prst="rect">
            <a:avLst/>
          </a:prstGeom>
          <a:solidFill>
            <a:srgbClr val="1E293B"/>
          </a:solidFill>
          <a:ln w="12700">
            <a:solidFill>
              <a:srgbClr val="A78BF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2" name="Text 22"/>
          <p:cNvSpPr txBox="1"/>
          <p:nvPr/>
        </p:nvSpPr>
        <p:spPr>
          <a:xfrm>
            <a:off x="4937759" y="3562350"/>
            <a:ext cx="356616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A78BF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Late Site: 높은층 Attention</a:t>
            </a:r>
          </a:p>
        </p:txBody>
      </p:sp>
      <p:sp>
        <p:nvSpPr>
          <p:cNvPr id="243" name="Text 23"/>
          <p:cNvSpPr txBox="1"/>
          <p:nvPr/>
        </p:nvSpPr>
        <p:spPr>
          <a:xfrm>
            <a:off x="4937759" y="3914602"/>
            <a:ext cx="3566160" cy="3089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마지막 토큰 위치, 상위 layer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Attention이 recall된 정보를 출력 위치로 복사</a:t>
            </a:r>
          </a:p>
        </p:txBody>
      </p:sp>
      <p:sp>
        <p:nvSpPr>
          <p:cNvPr id="244" name="Text 24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245" name="Text 25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12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1"/>
          <p:cNvSpPr txBox="1"/>
          <p:nvPr/>
        </p:nvSpPr>
        <p:spPr>
          <a:xfrm>
            <a:off x="731519" y="340360"/>
            <a:ext cx="731520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ROME: Rank-One Model Editing</a:t>
            </a:r>
          </a:p>
        </p:txBody>
      </p:sp>
      <p:sp>
        <p:nvSpPr>
          <p:cNvPr id="249" name="Shape 2"/>
          <p:cNvSpPr/>
          <p:nvPr/>
        </p:nvSpPr>
        <p:spPr>
          <a:xfrm>
            <a:off x="274320" y="1097280"/>
            <a:ext cx="2743201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0" name="Shape 3"/>
          <p:cNvSpPr/>
          <p:nvPr/>
        </p:nvSpPr>
        <p:spPr>
          <a:xfrm>
            <a:off x="411480" y="1234439"/>
            <a:ext cx="365761" cy="365761"/>
          </a:xfrm>
          <a:prstGeom prst="ellipse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1" name="Text 4"/>
          <p:cNvSpPr txBox="1"/>
          <p:nvPr/>
        </p:nvSpPr>
        <p:spPr>
          <a:xfrm>
            <a:off x="411480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252" name="Text 5"/>
          <p:cNvSpPr txBox="1"/>
          <p:nvPr/>
        </p:nvSpPr>
        <p:spPr>
          <a:xfrm>
            <a:off x="868680" y="1315719"/>
            <a:ext cx="2011679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Key 선택 (k*)</a:t>
            </a:r>
          </a:p>
        </p:txBody>
      </p:sp>
      <p:sp>
        <p:nvSpPr>
          <p:cNvPr id="253" name="Text 6"/>
          <p:cNvSpPr txBox="1"/>
          <p:nvPr/>
        </p:nvSpPr>
        <p:spPr>
          <a:xfrm>
            <a:off x="411479" y="2079499"/>
            <a:ext cx="2468882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Subject를 여러 문맥에서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실행 → 중간층 MLP 입력의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평균 activation</a:t>
            </a:r>
          </a:p>
        </p:txBody>
      </p:sp>
      <p:sp>
        <p:nvSpPr>
          <p:cNvPr id="254" name="Shape 7"/>
          <p:cNvSpPr/>
          <p:nvPr/>
        </p:nvSpPr>
        <p:spPr>
          <a:xfrm>
            <a:off x="3200400" y="1097280"/>
            <a:ext cx="2743200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55" name="Shape 8"/>
          <p:cNvSpPr/>
          <p:nvPr/>
        </p:nvSpPr>
        <p:spPr>
          <a:xfrm>
            <a:off x="3337559" y="1234439"/>
            <a:ext cx="365761" cy="365761"/>
          </a:xfrm>
          <a:prstGeom prst="ellipse">
            <a:avLst/>
          </a:prstGeom>
          <a:solidFill>
            <a:srgbClr val="FBBF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6" name="Text 9"/>
          <p:cNvSpPr txBox="1"/>
          <p:nvPr/>
        </p:nvSpPr>
        <p:spPr>
          <a:xfrm>
            <a:off x="3337559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257" name="Text 10"/>
          <p:cNvSpPr txBox="1"/>
          <p:nvPr/>
        </p:nvSpPr>
        <p:spPr>
          <a:xfrm>
            <a:off x="3794759" y="1315719"/>
            <a:ext cx="201168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Value 최적화 (v*)</a:t>
            </a:r>
          </a:p>
        </p:txBody>
      </p:sp>
      <p:sp>
        <p:nvSpPr>
          <p:cNvPr id="258" name="Text 11"/>
          <p:cNvSpPr txBox="1"/>
          <p:nvPr/>
        </p:nvSpPr>
        <p:spPr>
          <a:xfrm>
            <a:off x="3337559" y="2079499"/>
            <a:ext cx="246888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새로운 object를 예측하게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만드는 벡터를 최적화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+ KL div로 본질 보존</a:t>
            </a:r>
          </a:p>
        </p:txBody>
      </p:sp>
      <p:sp>
        <p:nvSpPr>
          <p:cNvPr id="259" name="Shape 12"/>
          <p:cNvSpPr/>
          <p:nvPr/>
        </p:nvSpPr>
        <p:spPr>
          <a:xfrm>
            <a:off x="6126479" y="1097280"/>
            <a:ext cx="2743201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60" name="Shape 13"/>
          <p:cNvSpPr/>
          <p:nvPr/>
        </p:nvSpPr>
        <p:spPr>
          <a:xfrm>
            <a:off x="6263640" y="1234439"/>
            <a:ext cx="365761" cy="365761"/>
          </a:xfrm>
          <a:prstGeom prst="ellipse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1" name="Text 14"/>
          <p:cNvSpPr txBox="1"/>
          <p:nvPr/>
        </p:nvSpPr>
        <p:spPr>
          <a:xfrm>
            <a:off x="6263640" y="1318628"/>
            <a:ext cx="365761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262" name="Text 15"/>
          <p:cNvSpPr txBox="1"/>
          <p:nvPr/>
        </p:nvSpPr>
        <p:spPr>
          <a:xfrm>
            <a:off x="6720840" y="1324770"/>
            <a:ext cx="2011680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Rank-One Update</a:t>
            </a:r>
          </a:p>
        </p:txBody>
      </p:sp>
      <p:sp>
        <p:nvSpPr>
          <p:cNvPr id="263" name="Text 16"/>
          <p:cNvSpPr txBox="1"/>
          <p:nvPr/>
        </p:nvSpPr>
        <p:spPr>
          <a:xfrm>
            <a:off x="6263640" y="2079499"/>
            <a:ext cx="2468881" cy="5044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Ŵ = W + Λ(C⁻¹k*)ᵀ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한 방향만 변경 →</a:t>
            </a:r>
          </a:p>
          <a:p>
            <a:pPr>
              <a:defRPr sz="11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다른 사실 영향 없음</a:t>
            </a:r>
          </a:p>
        </p:txBody>
      </p:sp>
      <p:sp>
        <p:nvSpPr>
          <p:cNvPr id="264" name="Text 17"/>
          <p:cNvSpPr txBox="1"/>
          <p:nvPr/>
        </p:nvSpPr>
        <p:spPr>
          <a:xfrm>
            <a:off x="731519" y="3458209"/>
            <a:ext cx="73152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평가: 세 가지 동시 달성</a:t>
            </a:r>
          </a:p>
        </p:txBody>
      </p:sp>
      <p:sp>
        <p:nvSpPr>
          <p:cNvPr id="265" name="Shape 18"/>
          <p:cNvSpPr/>
          <p:nvPr/>
        </p:nvSpPr>
        <p:spPr>
          <a:xfrm>
            <a:off x="457199" y="3794759"/>
            <a:ext cx="2651762" cy="594361"/>
          </a:xfrm>
          <a:prstGeom prst="rect">
            <a:avLst/>
          </a:prstGeom>
          <a:solidFill>
            <a:srgbClr val="1E293B"/>
          </a:solidFill>
          <a:ln w="12700">
            <a:solidFill>
              <a:srgbClr val="34D399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Text 19"/>
          <p:cNvSpPr txBox="1"/>
          <p:nvPr/>
        </p:nvSpPr>
        <p:spPr>
          <a:xfrm>
            <a:off x="548639" y="3872944"/>
            <a:ext cx="24688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34D399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Efficacy</a:t>
            </a:r>
          </a:p>
        </p:txBody>
      </p:sp>
      <p:sp>
        <p:nvSpPr>
          <p:cNvPr id="267" name="Text 20"/>
          <p:cNvSpPr txBox="1"/>
          <p:nvPr/>
        </p:nvSpPr>
        <p:spPr>
          <a:xfrm>
            <a:off x="548639" y="4130039"/>
            <a:ext cx="2468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편집한 프롬프트에 새로운 답</a:t>
            </a:r>
          </a:p>
        </p:txBody>
      </p:sp>
      <p:sp>
        <p:nvSpPr>
          <p:cNvPr id="268" name="Shape 21"/>
          <p:cNvSpPr/>
          <p:nvPr/>
        </p:nvSpPr>
        <p:spPr>
          <a:xfrm>
            <a:off x="3383279" y="3794759"/>
            <a:ext cx="2651761" cy="594361"/>
          </a:xfrm>
          <a:prstGeom prst="rect">
            <a:avLst/>
          </a:prstGeom>
          <a:solidFill>
            <a:srgbClr val="1E293B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9" name="Text 22"/>
          <p:cNvSpPr txBox="1"/>
          <p:nvPr/>
        </p:nvSpPr>
        <p:spPr>
          <a:xfrm>
            <a:off x="3474720" y="3872944"/>
            <a:ext cx="2468881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Generalization</a:t>
            </a:r>
          </a:p>
        </p:txBody>
      </p:sp>
      <p:sp>
        <p:nvSpPr>
          <p:cNvPr id="270" name="Text 23"/>
          <p:cNvSpPr txBox="1"/>
          <p:nvPr/>
        </p:nvSpPr>
        <p:spPr>
          <a:xfrm>
            <a:off x="3474720" y="4130039"/>
            <a:ext cx="246888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다른 표현으로 물어도 새로운 답</a:t>
            </a:r>
          </a:p>
        </p:txBody>
      </p:sp>
      <p:sp>
        <p:nvSpPr>
          <p:cNvPr id="271" name="Shape 24"/>
          <p:cNvSpPr/>
          <p:nvPr/>
        </p:nvSpPr>
        <p:spPr>
          <a:xfrm>
            <a:off x="6309359" y="3794759"/>
            <a:ext cx="2651761" cy="594361"/>
          </a:xfrm>
          <a:prstGeom prst="rect">
            <a:avLst/>
          </a:prstGeom>
          <a:solidFill>
            <a:srgbClr val="1E293B"/>
          </a:solidFill>
          <a:ln w="12700">
            <a:solidFill>
              <a:srgbClr val="FBBF2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25"/>
          <p:cNvSpPr txBox="1"/>
          <p:nvPr/>
        </p:nvSpPr>
        <p:spPr>
          <a:xfrm>
            <a:off x="6400799" y="3872944"/>
            <a:ext cx="24688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Specificity</a:t>
            </a:r>
          </a:p>
        </p:txBody>
      </p:sp>
      <p:sp>
        <p:nvSpPr>
          <p:cNvPr id="273" name="Text 26"/>
          <p:cNvSpPr txBox="1"/>
          <p:nvPr/>
        </p:nvSpPr>
        <p:spPr>
          <a:xfrm>
            <a:off x="6400799" y="4130039"/>
            <a:ext cx="24688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관련 없는 사실은 그대로 유지</a:t>
            </a:r>
          </a:p>
        </p:txBody>
      </p:sp>
      <p:sp>
        <p:nvSpPr>
          <p:cNvPr id="274" name="Text 27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275" name="Text 28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13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8" name="Text 1"/>
          <p:cNvSpPr txBox="1"/>
          <p:nvPr/>
        </p:nvSpPr>
        <p:spPr>
          <a:xfrm>
            <a:off x="731519" y="308609"/>
            <a:ext cx="7315201" cy="571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3200">
                <a:solidFill>
                  <a:srgbClr val="F8FAFC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pPr/>
            <a:r>
              <a:t>전체 서사</a:t>
            </a:r>
          </a:p>
        </p:txBody>
      </p:sp>
      <p:sp>
        <p:nvSpPr>
          <p:cNvPr id="279" name="Shape 2"/>
          <p:cNvSpPr/>
          <p:nvPr/>
        </p:nvSpPr>
        <p:spPr>
          <a:xfrm>
            <a:off x="274320" y="1097280"/>
            <a:ext cx="2057401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0" name="Shape 3"/>
          <p:cNvSpPr/>
          <p:nvPr/>
        </p:nvSpPr>
        <p:spPr>
          <a:xfrm>
            <a:off x="274320" y="1097280"/>
            <a:ext cx="2057401" cy="411481"/>
          </a:xfrm>
          <a:prstGeom prst="rect">
            <a:avLst/>
          </a:prstGeom>
          <a:solidFill>
            <a:srgbClr val="06B6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1" name="Text 4"/>
          <p:cNvSpPr txBox="1"/>
          <p:nvPr/>
        </p:nvSpPr>
        <p:spPr>
          <a:xfrm>
            <a:off x="274320" y="120142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구조 이해</a:t>
            </a:r>
          </a:p>
        </p:txBody>
      </p:sp>
      <p:sp>
        <p:nvSpPr>
          <p:cNvPr id="282" name="Text 5"/>
          <p:cNvSpPr txBox="1"/>
          <p:nvPr/>
        </p:nvSpPr>
        <p:spPr>
          <a:xfrm>
            <a:off x="365759" y="2061672"/>
            <a:ext cx="1874522" cy="4486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Transformer를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Residual Stream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중심으로 재해석</a:t>
            </a:r>
          </a:p>
        </p:txBody>
      </p:sp>
      <p:sp>
        <p:nvSpPr>
          <p:cNvPr id="283" name="Text 6"/>
          <p:cNvSpPr txBox="1"/>
          <p:nvPr/>
        </p:nvSpPr>
        <p:spPr>
          <a:xfrm>
            <a:off x="2331720" y="1672103"/>
            <a:ext cx="1828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4" name="Shape 7"/>
          <p:cNvSpPr/>
          <p:nvPr/>
        </p:nvSpPr>
        <p:spPr>
          <a:xfrm>
            <a:off x="2514600" y="1097280"/>
            <a:ext cx="2057400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A78BFA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85" name="Shape 8"/>
          <p:cNvSpPr/>
          <p:nvPr/>
        </p:nvSpPr>
        <p:spPr>
          <a:xfrm>
            <a:off x="2514600" y="1097280"/>
            <a:ext cx="2057400" cy="411481"/>
          </a:xfrm>
          <a:prstGeom prst="rect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9"/>
          <p:cNvSpPr txBox="1"/>
          <p:nvPr/>
        </p:nvSpPr>
        <p:spPr>
          <a:xfrm>
            <a:off x="2514600" y="1201420"/>
            <a:ext cx="20574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회로 발견</a:t>
            </a:r>
          </a:p>
        </p:txBody>
      </p:sp>
      <p:sp>
        <p:nvSpPr>
          <p:cNvPr id="287" name="Text 10"/>
          <p:cNvSpPr txBox="1"/>
          <p:nvPr/>
        </p:nvSpPr>
        <p:spPr>
          <a:xfrm>
            <a:off x="2606039" y="2078527"/>
            <a:ext cx="1874521" cy="414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Bigram →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Skip-Trigram →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Induction Head</a:t>
            </a:r>
          </a:p>
        </p:txBody>
      </p:sp>
      <p:sp>
        <p:nvSpPr>
          <p:cNvPr id="288" name="Text 11"/>
          <p:cNvSpPr txBox="1"/>
          <p:nvPr/>
        </p:nvSpPr>
        <p:spPr>
          <a:xfrm>
            <a:off x="4571999" y="1672103"/>
            <a:ext cx="182882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89" name="Shape 12"/>
          <p:cNvSpPr/>
          <p:nvPr/>
        </p:nvSpPr>
        <p:spPr>
          <a:xfrm>
            <a:off x="4754879" y="1097280"/>
            <a:ext cx="2057401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0" name="Shape 13"/>
          <p:cNvSpPr/>
          <p:nvPr/>
        </p:nvSpPr>
        <p:spPr>
          <a:xfrm>
            <a:off x="4754879" y="1097280"/>
            <a:ext cx="2057401" cy="411481"/>
          </a:xfrm>
          <a:prstGeom prst="rect">
            <a:avLst/>
          </a:prstGeom>
          <a:solidFill>
            <a:srgbClr val="34D39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1" name="Text 14"/>
          <p:cNvSpPr txBox="1"/>
          <p:nvPr/>
        </p:nvSpPr>
        <p:spPr>
          <a:xfrm>
            <a:off x="4754879" y="120142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지식 저장소</a:t>
            </a:r>
          </a:p>
        </p:txBody>
      </p:sp>
      <p:sp>
        <p:nvSpPr>
          <p:cNvPr id="292" name="Text 15"/>
          <p:cNvSpPr txBox="1"/>
          <p:nvPr/>
        </p:nvSpPr>
        <p:spPr>
          <a:xfrm>
            <a:off x="4846320" y="2070100"/>
            <a:ext cx="1874521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FFN =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Key-Value Memory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(Attention: 문맥, FFN: 지식)</a:t>
            </a:r>
          </a:p>
        </p:txBody>
      </p:sp>
      <p:sp>
        <p:nvSpPr>
          <p:cNvPr id="293" name="Text 16"/>
          <p:cNvSpPr txBox="1"/>
          <p:nvPr/>
        </p:nvSpPr>
        <p:spPr>
          <a:xfrm>
            <a:off x="6812280" y="1672103"/>
            <a:ext cx="182881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94" name="Shape 17"/>
          <p:cNvSpPr/>
          <p:nvPr/>
        </p:nvSpPr>
        <p:spPr>
          <a:xfrm>
            <a:off x="6995159" y="1097280"/>
            <a:ext cx="2057401" cy="2011679"/>
          </a:xfrm>
          <a:prstGeom prst="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  <a:effectLst>
            <a:outerShdw sx="100000" sy="100000" kx="0" ky="0" algn="b" rotWithShape="0" blurRad="101600" dist="25400" dir="8100000">
              <a:srgbClr val="000000">
                <a:alpha val="30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95" name="Shape 18"/>
          <p:cNvSpPr/>
          <p:nvPr/>
        </p:nvSpPr>
        <p:spPr>
          <a:xfrm>
            <a:off x="6995159" y="1097280"/>
            <a:ext cx="2057401" cy="411481"/>
          </a:xfrm>
          <a:prstGeom prst="rect">
            <a:avLst/>
          </a:prstGeom>
          <a:solidFill>
            <a:srgbClr val="FBBF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9"/>
          <p:cNvSpPr txBox="1"/>
          <p:nvPr/>
        </p:nvSpPr>
        <p:spPr>
          <a:xfrm>
            <a:off x="6995159" y="1201420"/>
            <a:ext cx="2057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위치 특정 + 편집</a:t>
            </a:r>
          </a:p>
        </p:txBody>
      </p:sp>
      <p:sp>
        <p:nvSpPr>
          <p:cNvPr id="297" name="Text 20"/>
          <p:cNvSpPr txBox="1"/>
          <p:nvPr/>
        </p:nvSpPr>
        <p:spPr>
          <a:xfrm>
            <a:off x="7086599" y="2070100"/>
            <a:ext cx="187452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Causal Tracing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→ ROME</a:t>
            </a:r>
          </a:p>
          <a:p>
            <a:pPr>
              <a:defRPr sz="10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(인과적 검증 → 직접 수정)</a:t>
            </a:r>
          </a:p>
        </p:txBody>
      </p:sp>
      <p:sp>
        <p:nvSpPr>
          <p:cNvPr id="298" name="Shape 21"/>
          <p:cNvSpPr/>
          <p:nvPr/>
        </p:nvSpPr>
        <p:spPr>
          <a:xfrm>
            <a:off x="731520" y="3383279"/>
            <a:ext cx="7680960" cy="731521"/>
          </a:xfrm>
          <a:prstGeom prst="rect">
            <a:avLst/>
          </a:prstGeom>
          <a:solidFill>
            <a:srgbClr val="141E33"/>
          </a:solidFill>
          <a:ln w="12700">
            <a:solidFill>
              <a:srgbClr val="06B6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9" name="Text 22"/>
          <p:cNvSpPr txBox="1"/>
          <p:nvPr/>
        </p:nvSpPr>
        <p:spPr>
          <a:xfrm>
            <a:off x="914400" y="3470910"/>
            <a:ext cx="36576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Interpretability 연구의 방법론적 패턴</a:t>
            </a:r>
          </a:p>
        </p:txBody>
      </p:sp>
      <p:sp>
        <p:nvSpPr>
          <p:cNvPr id="300" name="Text 23"/>
          <p:cNvSpPr txBox="1"/>
          <p:nvPr/>
        </p:nvSpPr>
        <p:spPr>
          <a:xfrm>
            <a:off x="914400" y="3790950"/>
            <a:ext cx="73152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구조적 해석 (Geva) → 인과적 검증 (Causal Tracing) → 직접 편집 (ROME)</a:t>
            </a:r>
          </a:p>
        </p:txBody>
      </p:sp>
      <p:sp>
        <p:nvSpPr>
          <p:cNvPr id="301" name="Text 24"/>
          <p:cNvSpPr txBox="1"/>
          <p:nvPr/>
        </p:nvSpPr>
        <p:spPr>
          <a:xfrm>
            <a:off x="731520" y="4392929"/>
            <a:ext cx="768096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F8FAFC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감사합니다</a:t>
            </a:r>
          </a:p>
        </p:txBody>
      </p:sp>
      <p:sp>
        <p:nvSpPr>
          <p:cNvPr id="302" name="Text 25"/>
          <p:cNvSpPr txBox="1"/>
          <p:nvPr/>
        </p:nvSpPr>
        <p:spPr>
          <a:xfrm>
            <a:off x="502919" y="4753609"/>
            <a:ext cx="6309362" cy="231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specidiee  |  LLM 해석가능성 스터디</a:t>
            </a:r>
          </a:p>
        </p:txBody>
      </p:sp>
      <p:sp>
        <p:nvSpPr>
          <p:cNvPr id="303" name="Text 26"/>
          <p:cNvSpPr txBox="1"/>
          <p:nvPr/>
        </p:nvSpPr>
        <p:spPr>
          <a:xfrm>
            <a:off x="7360919" y="4761829"/>
            <a:ext cx="1280162" cy="2147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14 / 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